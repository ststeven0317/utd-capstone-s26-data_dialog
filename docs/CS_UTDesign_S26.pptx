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61" r:id="rId3"/>
    <p:sldId id="266" r:id="rId4"/>
    <p:sldId id="267" r:id="rId5"/>
    <p:sldId id="270" r:id="rId6"/>
    <p:sldId id="262" r:id="rId7"/>
    <p:sldId id="269" r:id="rId8"/>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6F1F"/>
    <a:srgbClr val="7AC04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1944" y="18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66" d="100"/>
          <a:sy n="66" d="100"/>
        </p:scale>
        <p:origin x="-3210"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8" rIns="93177" bIns="46588" rtlCol="0"/>
          <a:lstStyle>
            <a:lvl1pPr algn="l">
              <a:defRPr sz="1200"/>
            </a:lvl1pPr>
          </a:lstStyle>
          <a:p>
            <a:endParaRPr lang="en-US"/>
          </a:p>
        </p:txBody>
      </p:sp>
      <p:sp>
        <p:nvSpPr>
          <p:cNvPr id="3" name="Date Placeholder 2"/>
          <p:cNvSpPr>
            <a:spLocks noGrp="1"/>
          </p:cNvSpPr>
          <p:nvPr>
            <p:ph type="dt" idx="1"/>
          </p:nvPr>
        </p:nvSpPr>
        <p:spPr>
          <a:xfrm>
            <a:off x="3970937" y="0"/>
            <a:ext cx="3037840" cy="464820"/>
          </a:xfrm>
          <a:prstGeom prst="rect">
            <a:avLst/>
          </a:prstGeom>
        </p:spPr>
        <p:txBody>
          <a:bodyPr vert="horz" lIns="93177" tIns="46588" rIns="93177" bIns="46588" rtlCol="0"/>
          <a:lstStyle>
            <a:lvl1pPr algn="r">
              <a:defRPr sz="1200"/>
            </a:lvl1pPr>
          </a:lstStyle>
          <a:p>
            <a:fld id="{C0287AE3-470F-48D7-8AFA-31CB247DB669}" type="datetimeFigureOut">
              <a:rPr lang="en-US" smtClean="0"/>
              <a:t>1/19/26</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77" tIns="46588" rIns="93177" bIns="46588"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8" rIns="93177" bIns="4658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8" rIns="93177" bIns="46588" rtlCol="0" anchor="b"/>
          <a:lstStyle>
            <a:lvl1pPr algn="l">
              <a:defRPr sz="1200"/>
            </a:lvl1pPr>
          </a:lstStyle>
          <a:p>
            <a:endParaRPr lang="en-US"/>
          </a:p>
        </p:txBody>
      </p:sp>
      <p:sp>
        <p:nvSpPr>
          <p:cNvPr id="7" name="Slide Number Placeholder 6"/>
          <p:cNvSpPr>
            <a:spLocks noGrp="1"/>
          </p:cNvSpPr>
          <p:nvPr>
            <p:ph type="sldNum" sz="quarter" idx="5"/>
          </p:nvPr>
        </p:nvSpPr>
        <p:spPr>
          <a:xfrm>
            <a:off x="3970937" y="8829967"/>
            <a:ext cx="3037840" cy="464820"/>
          </a:xfrm>
          <a:prstGeom prst="rect">
            <a:avLst/>
          </a:prstGeom>
        </p:spPr>
        <p:txBody>
          <a:bodyPr vert="horz" lIns="93177" tIns="46588" rIns="93177" bIns="46588" rtlCol="0" anchor="b"/>
          <a:lstStyle>
            <a:lvl1pPr algn="r">
              <a:defRPr sz="1200"/>
            </a:lvl1pPr>
          </a:lstStyle>
          <a:p>
            <a:fld id="{1A979886-74EF-4642-AE36-6DD0E190882A}" type="slidenum">
              <a:rPr lang="en-US" smtClean="0"/>
              <a:t>‹#›</a:t>
            </a:fld>
            <a:endParaRPr lang="en-US"/>
          </a:p>
        </p:txBody>
      </p:sp>
    </p:spTree>
    <p:extLst>
      <p:ext uri="{BB962C8B-B14F-4D97-AF65-F5344CB8AC3E}">
        <p14:creationId xmlns:p14="http://schemas.microsoft.com/office/powerpoint/2010/main" val="2123151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A979886-74EF-4642-AE36-6DD0E190882A}"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A979886-74EF-4642-AE36-6DD0E190882A}"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A979886-74EF-4642-AE36-6DD0E190882A}"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A979886-74EF-4642-AE36-6DD0E190882A}"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EC2A8-059A-C6D0-011A-81DC524C90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070000-336E-BFCE-F421-DA449A393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7534AA-EA6A-919C-B42C-379D8BF0B5CA}"/>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D86B9A0A-5D37-62C7-C444-45D7B9409D49}"/>
              </a:ext>
            </a:extLst>
          </p:cNvPr>
          <p:cNvSpPr>
            <a:spLocks noGrp="1"/>
          </p:cNvSpPr>
          <p:nvPr>
            <p:ph type="sldNum" sz="quarter" idx="10"/>
          </p:nvPr>
        </p:nvSpPr>
        <p:spPr/>
        <p:txBody>
          <a:bodyPr/>
          <a:lstStyle/>
          <a:p>
            <a:fld id="{1A979886-74EF-4642-AE36-6DD0E190882A}" type="slidenum">
              <a:rPr lang="en-US" smtClean="0"/>
              <a:t>5</a:t>
            </a:fld>
            <a:endParaRPr lang="en-US"/>
          </a:p>
        </p:txBody>
      </p:sp>
    </p:spTree>
    <p:extLst>
      <p:ext uri="{BB962C8B-B14F-4D97-AF65-F5344CB8AC3E}">
        <p14:creationId xmlns:p14="http://schemas.microsoft.com/office/powerpoint/2010/main" val="638382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A979886-74EF-4642-AE36-6DD0E190882A}"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A979886-74EF-4642-AE36-6DD0E190882A}" type="slidenum">
              <a:rPr lang="en-US" smtClean="0"/>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6745184" y="6234546"/>
            <a:ext cx="2137559" cy="579004"/>
          </a:xfrm>
        </p:spPr>
        <p:txBody>
          <a:bodyPr/>
          <a:lstStyle>
            <a:lvl1pPr>
              <a:defRPr sz="1050" b="0" i="1">
                <a:latin typeface="Times New Roman" pitchFamily="18" charset="0"/>
                <a:cs typeface="Times New Roman" pitchFamily="18" charset="0"/>
              </a:defRPr>
            </a:lvl1pPr>
          </a:lstStyle>
          <a:p>
            <a:r>
              <a:rPr lang="en-US" dirty="0"/>
              <a:t>Applying academic innovations to real–world engineering and computer science problems</a:t>
            </a:r>
          </a:p>
        </p:txBody>
      </p:sp>
    </p:spTree>
    <p:extLst>
      <p:ext uri="{BB962C8B-B14F-4D97-AF65-F5344CB8AC3E}">
        <p14:creationId xmlns:p14="http://schemas.microsoft.com/office/powerpoint/2010/main" val="879642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059972"/>
            <a:ext cx="8229600" cy="1143000"/>
          </a:xfrm>
        </p:spPr>
        <p:txBody>
          <a:bodyPr/>
          <a:lstStyle/>
          <a:p>
            <a:r>
              <a:rPr lang="en-US" dirty="0"/>
              <a:t>Click to edit Master title style</a:t>
            </a:r>
          </a:p>
        </p:txBody>
      </p:sp>
      <p:sp>
        <p:nvSpPr>
          <p:cNvPr id="3" name="Content Placeholder 2"/>
          <p:cNvSpPr>
            <a:spLocks noGrp="1"/>
          </p:cNvSpPr>
          <p:nvPr>
            <p:ph idx="1"/>
          </p:nvPr>
        </p:nvSpPr>
        <p:spPr>
          <a:xfrm>
            <a:off x="457200" y="2549562"/>
            <a:ext cx="8229600" cy="3576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4560C-E380-1943-B5D7-49A23CA338C0}" type="datetimeFigureOut">
              <a:rPr lang="en-US" smtClean="0"/>
              <a:pPr/>
              <a:t>1/19/26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8DACDF-E1A9-A04C-A5FF-FC2443684BF5}" type="slidenum">
              <a:rPr lang="en-US" smtClean="0"/>
              <a:pPr/>
              <a:t>‹#›</a:t>
            </a:fld>
            <a:endParaRPr lang="en-US"/>
          </a:p>
        </p:txBody>
      </p:sp>
    </p:spTree>
    <p:extLst>
      <p:ext uri="{BB962C8B-B14F-4D97-AF65-F5344CB8AC3E}">
        <p14:creationId xmlns:p14="http://schemas.microsoft.com/office/powerpoint/2010/main" val="1617959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29889" y="1508219"/>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D4560C-E380-1943-B5D7-49A23CA338C0}" type="datetimeFigureOut">
              <a:rPr lang="en-US" smtClean="0"/>
              <a:pPr/>
              <a:t>1/19/26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8DACDF-E1A9-A04C-A5FF-FC2443684BF5}" type="slidenum">
              <a:rPr lang="en-US" smtClean="0"/>
              <a:pPr/>
              <a:t>‹#›</a:t>
            </a:fld>
            <a:endParaRPr lang="en-US"/>
          </a:p>
        </p:txBody>
      </p:sp>
    </p:spTree>
    <p:extLst>
      <p:ext uri="{BB962C8B-B14F-4D97-AF65-F5344CB8AC3E}">
        <p14:creationId xmlns:p14="http://schemas.microsoft.com/office/powerpoint/2010/main" val="3771452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67031"/>
            <a:ext cx="8229600" cy="938287"/>
          </a:xfrm>
        </p:spPr>
        <p:txBody>
          <a:bodyPr/>
          <a:lstStyle/>
          <a:p>
            <a:r>
              <a:rPr lang="en-US" dirty="0"/>
              <a:t>Click to edit Master title style</a:t>
            </a:r>
          </a:p>
        </p:txBody>
      </p:sp>
      <p:sp>
        <p:nvSpPr>
          <p:cNvPr id="3" name="Content Placeholder 2"/>
          <p:cNvSpPr>
            <a:spLocks noGrp="1"/>
          </p:cNvSpPr>
          <p:nvPr>
            <p:ph sz="half" idx="1"/>
          </p:nvPr>
        </p:nvSpPr>
        <p:spPr>
          <a:xfrm>
            <a:off x="457200" y="2291380"/>
            <a:ext cx="4038600" cy="38347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2291380"/>
            <a:ext cx="4038600" cy="38347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ED4560C-E380-1943-B5D7-49A23CA338C0}" type="datetimeFigureOut">
              <a:rPr lang="en-US" smtClean="0"/>
              <a:pPr/>
              <a:t>1/19/26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8DACDF-E1A9-A04C-A5FF-FC2443684BF5}" type="slidenum">
              <a:rPr lang="en-US" smtClean="0"/>
              <a:pPr/>
              <a:t>‹#›</a:t>
            </a:fld>
            <a:endParaRPr lang="en-US"/>
          </a:p>
        </p:txBody>
      </p:sp>
    </p:spTree>
    <p:extLst>
      <p:ext uri="{BB962C8B-B14F-4D97-AF65-F5344CB8AC3E}">
        <p14:creationId xmlns:p14="http://schemas.microsoft.com/office/powerpoint/2010/main" val="2960021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362985"/>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086983"/>
            <a:ext cx="4040188" cy="4039179"/>
          </a:xfrm>
        </p:spPr>
        <p:txBody>
          <a:bodyPr/>
          <a:lstStyle>
            <a:lvl1pPr marL="0" indent="0">
              <a:buFontTx/>
              <a:buNone/>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endParaRPr lang="en-US" dirty="0"/>
          </a:p>
        </p:txBody>
      </p:sp>
      <p:sp>
        <p:nvSpPr>
          <p:cNvPr id="5" name="Text Placeholder 4"/>
          <p:cNvSpPr>
            <a:spLocks noGrp="1"/>
          </p:cNvSpPr>
          <p:nvPr>
            <p:ph type="body" sz="quarter" idx="3"/>
          </p:nvPr>
        </p:nvSpPr>
        <p:spPr>
          <a:xfrm>
            <a:off x="4645025" y="1362985"/>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086983"/>
            <a:ext cx="4041775" cy="4039179"/>
          </a:xfrm>
        </p:spPr>
        <p:txBody>
          <a:bodyPr/>
          <a:lstStyle>
            <a:lvl1pPr marL="0" indent="0">
              <a:buFontTx/>
              <a:buNone/>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endParaRPr lang="en-US" dirty="0"/>
          </a:p>
        </p:txBody>
      </p:sp>
      <p:sp>
        <p:nvSpPr>
          <p:cNvPr id="7" name="Date Placeholder 6"/>
          <p:cNvSpPr>
            <a:spLocks noGrp="1"/>
          </p:cNvSpPr>
          <p:nvPr>
            <p:ph type="dt" sz="half" idx="10"/>
          </p:nvPr>
        </p:nvSpPr>
        <p:spPr/>
        <p:txBody>
          <a:bodyPr/>
          <a:lstStyle/>
          <a:p>
            <a:fld id="{9ED4560C-E380-1943-B5D7-49A23CA338C0}" type="datetimeFigureOut">
              <a:rPr lang="en-US" smtClean="0"/>
              <a:pPr/>
              <a:t>1/19/26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8DACDF-E1A9-A04C-A5FF-FC2443684BF5}" type="slidenum">
              <a:rPr lang="en-US" smtClean="0"/>
              <a:pPr/>
              <a:t>‹#›</a:t>
            </a:fld>
            <a:endParaRPr lang="en-US"/>
          </a:p>
        </p:txBody>
      </p:sp>
    </p:spTree>
    <p:extLst>
      <p:ext uri="{BB962C8B-B14F-4D97-AF65-F5344CB8AC3E}">
        <p14:creationId xmlns:p14="http://schemas.microsoft.com/office/powerpoint/2010/main" val="2141333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11680"/>
            <a:ext cx="8229600" cy="1143000"/>
          </a:xfrm>
        </p:spPr>
        <p:txBody>
          <a:bodyPr>
            <a:normAutofit/>
          </a:bodyPr>
          <a:lstStyle>
            <a:lvl1pPr>
              <a:defRPr sz="3200" b="1"/>
            </a:lvl1pPr>
          </a:lstStyle>
          <a:p>
            <a:r>
              <a:rPr lang="en-US" dirty="0"/>
              <a:t>Click to edit Master title style</a:t>
            </a:r>
          </a:p>
        </p:txBody>
      </p:sp>
      <p:sp>
        <p:nvSpPr>
          <p:cNvPr id="3" name="Date Placeholder 2"/>
          <p:cNvSpPr>
            <a:spLocks noGrp="1"/>
          </p:cNvSpPr>
          <p:nvPr>
            <p:ph type="dt" sz="half" idx="10"/>
          </p:nvPr>
        </p:nvSpPr>
        <p:spPr/>
        <p:txBody>
          <a:bodyPr/>
          <a:lstStyle/>
          <a:p>
            <a:fld id="{9ED4560C-E380-1943-B5D7-49A23CA338C0}" type="datetimeFigureOut">
              <a:rPr lang="en-US" smtClean="0"/>
              <a:pPr/>
              <a:t>1/19/26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8DACDF-E1A9-A04C-A5FF-FC2443684BF5}" type="slidenum">
              <a:rPr lang="en-US" smtClean="0"/>
              <a:pPr/>
              <a:t>‹#›</a:t>
            </a:fld>
            <a:endParaRPr lang="en-US"/>
          </a:p>
        </p:txBody>
      </p:sp>
    </p:spTree>
    <p:extLst>
      <p:ext uri="{BB962C8B-B14F-4D97-AF65-F5344CB8AC3E}">
        <p14:creationId xmlns:p14="http://schemas.microsoft.com/office/powerpoint/2010/main" val="1931544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D4560C-E380-1943-B5D7-49A23CA338C0}" type="datetimeFigureOut">
              <a:rPr lang="en-US" smtClean="0"/>
              <a:pPr/>
              <a:t>1/19/26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8DACDF-E1A9-A04C-A5FF-FC2443684BF5}" type="slidenum">
              <a:rPr lang="en-US" smtClean="0"/>
              <a:pPr/>
              <a:t>‹#›</a:t>
            </a:fld>
            <a:endParaRPr lang="en-US"/>
          </a:p>
        </p:txBody>
      </p:sp>
    </p:spTree>
    <p:extLst>
      <p:ext uri="{BB962C8B-B14F-4D97-AF65-F5344CB8AC3E}">
        <p14:creationId xmlns:p14="http://schemas.microsoft.com/office/powerpoint/2010/main" val="3718387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D4560C-E380-1943-B5D7-49A23CA338C0}" type="datetimeFigureOut">
              <a:rPr lang="en-US" smtClean="0"/>
              <a:pPr/>
              <a:t>1/19/26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8DACDF-E1A9-A04C-A5FF-FC2443684BF5}" type="slidenum">
              <a:rPr lang="en-US" smtClean="0"/>
              <a:pPr/>
              <a:t>‹#›</a:t>
            </a:fld>
            <a:endParaRPr lang="en-US"/>
          </a:p>
        </p:txBody>
      </p:sp>
    </p:spTree>
    <p:extLst>
      <p:ext uri="{BB962C8B-B14F-4D97-AF65-F5344CB8AC3E}">
        <p14:creationId xmlns:p14="http://schemas.microsoft.com/office/powerpoint/2010/main" val="2596091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1635161"/>
            <a:ext cx="5486400" cy="30924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D4560C-E380-1943-B5D7-49A23CA338C0}" type="datetimeFigureOut">
              <a:rPr lang="en-US" smtClean="0"/>
              <a:pPr/>
              <a:t>1/19/26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1060536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D4560C-E380-1943-B5D7-49A23CA338C0}" type="datetimeFigureOut">
              <a:rPr lang="en-US" smtClean="0"/>
              <a:pPr/>
              <a:t>1/19/26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8DACDF-E1A9-A04C-A5FF-FC2443684BF5}" type="slidenum">
              <a:rPr lang="en-US" smtClean="0"/>
              <a:pPr/>
              <a:t>‹#›</a:t>
            </a:fld>
            <a:endParaRPr lang="en-US"/>
          </a:p>
        </p:txBody>
      </p:sp>
      <p:pic>
        <p:nvPicPr>
          <p:cNvPr id="14" name="Picture 13" descr="Engineering_Powerpoint.jpg"/>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8" name="Picture 7"/>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388622" y="6356350"/>
            <a:ext cx="2081048" cy="457200"/>
          </a:xfrm>
          <a:prstGeom prst="rect">
            <a:avLst/>
          </a:prstGeom>
        </p:spPr>
      </p:pic>
      <p:grpSp>
        <p:nvGrpSpPr>
          <p:cNvPr id="23" name="Group 22"/>
          <p:cNvGrpSpPr/>
          <p:nvPr userDrawn="1"/>
        </p:nvGrpSpPr>
        <p:grpSpPr>
          <a:xfrm>
            <a:off x="-3" y="6237389"/>
            <a:ext cx="9144000" cy="0"/>
            <a:chOff x="-3" y="6237389"/>
            <a:chExt cx="9144000" cy="0"/>
          </a:xfrm>
        </p:grpSpPr>
        <p:cxnSp>
          <p:nvCxnSpPr>
            <p:cNvPr id="10" name="Straight Connector 9"/>
            <p:cNvCxnSpPr/>
            <p:nvPr userDrawn="1"/>
          </p:nvCxnSpPr>
          <p:spPr>
            <a:xfrm>
              <a:off x="-3" y="6237389"/>
              <a:ext cx="6658984" cy="0"/>
            </a:xfrm>
            <a:prstGeom prst="line">
              <a:avLst/>
            </a:prstGeom>
            <a:ln w="38100">
              <a:solidFill>
                <a:srgbClr val="7AC043"/>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6658981" y="6237389"/>
              <a:ext cx="2485016" cy="0"/>
            </a:xfrm>
            <a:prstGeom prst="line">
              <a:avLst/>
            </a:prstGeom>
            <a:ln w="38100">
              <a:solidFill>
                <a:srgbClr val="E46F1F"/>
              </a:solidFill>
            </a:ln>
            <a:effectLst/>
          </p:spPr>
          <p:style>
            <a:lnRef idx="2">
              <a:schemeClr val="accent1"/>
            </a:lnRef>
            <a:fillRef idx="0">
              <a:schemeClr val="accent1"/>
            </a:fillRef>
            <a:effectRef idx="1">
              <a:schemeClr val="accent1"/>
            </a:effectRef>
            <a:fontRef idx="minor">
              <a:schemeClr val="tx1"/>
            </a:fontRef>
          </p:style>
        </p:cxnSp>
      </p:grpSp>
      <p:sp>
        <p:nvSpPr>
          <p:cNvPr id="22" name="Slide Number Placeholder 5"/>
          <p:cNvSpPr txBox="1">
            <a:spLocks/>
          </p:cNvSpPr>
          <p:nvPr userDrawn="1"/>
        </p:nvSpPr>
        <p:spPr>
          <a:xfrm>
            <a:off x="6745184" y="6256062"/>
            <a:ext cx="2137559" cy="579004"/>
          </a:xfrm>
          <a:prstGeom prst="rect">
            <a:avLst/>
          </a:prstGeom>
        </p:spPr>
        <p:txBody>
          <a:bodyPr/>
          <a:lstStyle>
            <a:defPPr>
              <a:defRPr lang="en-US"/>
            </a:defPPr>
            <a:lvl1pPr marL="0" algn="l" defTabSz="457200" rtl="0" eaLnBrk="1" latinLnBrk="0" hangingPunct="1">
              <a:defRPr sz="1050" b="0" i="1" kern="1200">
                <a:solidFill>
                  <a:schemeClr val="tx1"/>
                </a:solidFill>
                <a:latin typeface="Times New Roman" pitchFamily="18" charset="0"/>
                <a:ea typeface="+mn-ea"/>
                <a:cs typeface="Times New Roman" pitchFamily="18"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t>Applying academic innovations to real–world engineering and computer science problems</a:t>
            </a:r>
          </a:p>
        </p:txBody>
      </p:sp>
      <p:sp>
        <p:nvSpPr>
          <p:cNvPr id="9" name="TextBox 8">
            <a:extLst>
              <a:ext uri="{FF2B5EF4-FFF2-40B4-BE49-F238E27FC236}">
                <a16:creationId xmlns:a16="http://schemas.microsoft.com/office/drawing/2014/main" id="{41BE7053-7516-4503-8625-251628EC0A9F}"/>
              </a:ext>
            </a:extLst>
          </p:cNvPr>
          <p:cNvSpPr txBox="1"/>
          <p:nvPr userDrawn="1">
            <p:extLst>
              <p:ext uri="{1162E1C5-73C7-4A58-AE30-91384D911F3F}">
                <p184:classification xmlns:p184="http://schemas.microsoft.com/office/powerpoint/2018/4/main" val="ftr"/>
              </p:ext>
            </p:extLst>
          </p:nvPr>
        </p:nvSpPr>
        <p:spPr>
          <a:xfrm>
            <a:off x="63500" y="6642100"/>
            <a:ext cx="1384300"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USAA Classification: Public</a:t>
            </a:r>
          </a:p>
        </p:txBody>
      </p:sp>
    </p:spTree>
    <p:extLst>
      <p:ext uri="{BB962C8B-B14F-4D97-AF65-F5344CB8AC3E}">
        <p14:creationId xmlns:p14="http://schemas.microsoft.com/office/powerpoint/2010/main" val="2749622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3.png"/><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1737" y="1000559"/>
            <a:ext cx="8735816" cy="643246"/>
          </a:xfrm>
        </p:spPr>
        <p:txBody>
          <a:bodyPr>
            <a:normAutofit/>
          </a:bodyPr>
          <a:lstStyle/>
          <a:p>
            <a:r>
              <a:rPr lang="en-US" sz="2400" b="1" dirty="0">
                <a:solidFill>
                  <a:prstClr val="black"/>
                </a:solidFill>
              </a:rPr>
              <a:t>“</a:t>
            </a:r>
            <a:r>
              <a:rPr lang="en-US" sz="3600" b="1" dirty="0">
                <a:solidFill>
                  <a:prstClr val="black"/>
                </a:solidFill>
              </a:rPr>
              <a:t>Data </a:t>
            </a:r>
            <a:r>
              <a:rPr lang="en-US" sz="3600" b="1" dirty="0" err="1">
                <a:solidFill>
                  <a:prstClr val="black"/>
                </a:solidFill>
              </a:rPr>
              <a:t>Gener</a:t>
            </a:r>
            <a:r>
              <a:rPr lang="en-US" sz="3600" b="1" dirty="0" err="1">
                <a:solidFill>
                  <a:schemeClr val="accent6"/>
                </a:solidFill>
              </a:rPr>
              <a:t>AI</a:t>
            </a:r>
            <a:r>
              <a:rPr lang="en-US" sz="3600" b="1" dirty="0" err="1">
                <a:solidFill>
                  <a:prstClr val="black"/>
                </a:solidFill>
              </a:rPr>
              <a:t>tion</a:t>
            </a:r>
            <a:r>
              <a:rPr lang="en-US" sz="2400" b="1" dirty="0">
                <a:solidFill>
                  <a:prstClr val="black"/>
                </a:solidFill>
              </a:rPr>
              <a:t>”</a:t>
            </a:r>
            <a:endParaRPr lang="en-US" sz="4000" b="1" dirty="0"/>
          </a:p>
        </p:txBody>
      </p:sp>
      <p:sp>
        <p:nvSpPr>
          <p:cNvPr id="3" name="Subtitle 2"/>
          <p:cNvSpPr>
            <a:spLocks noGrp="1"/>
          </p:cNvSpPr>
          <p:nvPr>
            <p:ph type="subTitle" idx="1"/>
          </p:nvPr>
        </p:nvSpPr>
        <p:spPr>
          <a:xfrm>
            <a:off x="457200" y="2007220"/>
            <a:ext cx="8155172" cy="3968278"/>
          </a:xfrm>
        </p:spPr>
        <p:txBody>
          <a:bodyPr>
            <a:normAutofit fontScale="92500" lnSpcReduction="10000"/>
          </a:bodyPr>
          <a:lstStyle/>
          <a:p>
            <a:pPr lvl="0">
              <a:spcBef>
                <a:spcPts val="0"/>
              </a:spcBef>
            </a:pPr>
            <a:r>
              <a:rPr lang="en-US" sz="7100" b="1" dirty="0">
                <a:ln w="12700">
                  <a:solidFill>
                    <a:schemeClr val="tx1"/>
                  </a:solidFill>
                </a:ln>
                <a:solidFill>
                  <a:schemeClr val="accent2"/>
                </a:solidFill>
              </a:rPr>
              <a:t>U</a:t>
            </a:r>
            <a:r>
              <a:rPr lang="en-US" sz="7100" b="1" dirty="0">
                <a:ln w="12700">
                  <a:solidFill>
                    <a:schemeClr val="tx1"/>
                  </a:solidFill>
                </a:ln>
                <a:solidFill>
                  <a:schemeClr val="bg1"/>
                </a:solidFill>
              </a:rPr>
              <a:t>S</a:t>
            </a:r>
            <a:r>
              <a:rPr lang="en-US" sz="7100" b="1" dirty="0">
                <a:ln w="12700">
                  <a:solidFill>
                    <a:schemeClr val="tx1"/>
                  </a:solidFill>
                </a:ln>
                <a:solidFill>
                  <a:schemeClr val="tx2"/>
                </a:solidFill>
              </a:rPr>
              <a:t>AA</a:t>
            </a:r>
          </a:p>
          <a:p>
            <a:pPr lvl="0">
              <a:spcBef>
                <a:spcPts val="0"/>
              </a:spcBef>
            </a:pPr>
            <a:r>
              <a:rPr lang="en-US" sz="2400" b="1" dirty="0">
                <a:solidFill>
                  <a:schemeClr val="tx1"/>
                </a:solidFill>
              </a:rPr>
              <a:t>Home Office: 9800 Fredericksburg Rd, San Antonio, TX 78288</a:t>
            </a:r>
            <a:endParaRPr lang="en-US" sz="2400" b="1" dirty="0">
              <a:solidFill>
                <a:schemeClr val="tx1"/>
              </a:solidFill>
              <a:cs typeface="Calibri"/>
            </a:endParaRPr>
          </a:p>
          <a:p>
            <a:pPr lvl="0">
              <a:spcBef>
                <a:spcPts val="0"/>
              </a:spcBef>
            </a:pPr>
            <a:r>
              <a:rPr lang="en-US" sz="2400" b="1" dirty="0">
                <a:solidFill>
                  <a:schemeClr val="tx1"/>
                </a:solidFill>
              </a:rPr>
              <a:t>Plano Office: 7300 Parkwood </a:t>
            </a:r>
            <a:r>
              <a:rPr lang="en-US" sz="2400" b="1" dirty="0" err="1">
                <a:solidFill>
                  <a:schemeClr val="tx1"/>
                </a:solidFill>
              </a:rPr>
              <a:t>Bvld</a:t>
            </a:r>
            <a:r>
              <a:rPr lang="en-US" sz="2400" b="1" dirty="0">
                <a:solidFill>
                  <a:schemeClr val="tx1"/>
                </a:solidFill>
              </a:rPr>
              <a:t>., Plano, TX 75024</a:t>
            </a:r>
            <a:br>
              <a:rPr lang="en-US" sz="2400" b="1" dirty="0">
                <a:solidFill>
                  <a:prstClr val="black"/>
                </a:solidFill>
              </a:rPr>
            </a:br>
            <a:r>
              <a:rPr lang="en-US" sz="2400" b="1" dirty="0">
                <a:solidFill>
                  <a:schemeClr val="accent6"/>
                </a:solidFill>
              </a:rPr>
              <a:t>www.usaa.com</a:t>
            </a:r>
            <a:endParaRPr lang="en-US" sz="2400" b="1" dirty="0">
              <a:solidFill>
                <a:schemeClr val="accent6"/>
              </a:solidFill>
              <a:cs typeface="Calibri"/>
            </a:endParaRPr>
          </a:p>
          <a:p>
            <a:pPr lvl="0">
              <a:spcBef>
                <a:spcPts val="0"/>
              </a:spcBef>
            </a:pPr>
            <a:endParaRPr lang="en-US" sz="2400" b="1" dirty="0">
              <a:solidFill>
                <a:prstClr val="black"/>
              </a:solidFill>
            </a:endParaRPr>
          </a:p>
          <a:p>
            <a:pPr lvl="0">
              <a:spcBef>
                <a:spcPts val="0"/>
              </a:spcBef>
            </a:pPr>
            <a:endParaRPr lang="en-US" sz="2400" b="1" dirty="0">
              <a:solidFill>
                <a:prstClr val="black"/>
              </a:solidFill>
            </a:endParaRPr>
          </a:p>
          <a:p>
            <a:pPr>
              <a:spcBef>
                <a:spcPts val="0"/>
              </a:spcBef>
            </a:pPr>
            <a:r>
              <a:rPr lang="en-US" sz="2800" b="1" dirty="0">
                <a:solidFill>
                  <a:srgbClr val="000000"/>
                </a:solidFill>
                <a:cs typeface="Calibri"/>
              </a:rPr>
              <a:t>Dr. Steven </a:t>
            </a:r>
            <a:r>
              <a:rPr lang="en-US" sz="2800" b="1" dirty="0" err="1">
                <a:solidFill>
                  <a:srgbClr val="000000"/>
                </a:solidFill>
                <a:cs typeface="Calibri"/>
              </a:rPr>
              <a:t>Kirtzic</a:t>
            </a:r>
            <a:r>
              <a:rPr lang="en-US" sz="2800" b="1" dirty="0">
                <a:solidFill>
                  <a:srgbClr val="000000"/>
                </a:solidFill>
                <a:cs typeface="Calibri"/>
              </a:rPr>
              <a:t>, Ph.D. | Mohamed </a:t>
            </a:r>
            <a:r>
              <a:rPr lang="en-US" sz="2800" b="1" dirty="0" err="1">
                <a:solidFill>
                  <a:srgbClr val="000000"/>
                </a:solidFill>
                <a:cs typeface="Calibri"/>
              </a:rPr>
              <a:t>Meddouri</a:t>
            </a:r>
            <a:r>
              <a:rPr lang="en-US" sz="2800" b="1" dirty="0">
                <a:solidFill>
                  <a:srgbClr val="000000"/>
                </a:solidFill>
                <a:cs typeface="Calibri"/>
              </a:rPr>
              <a:t> | Rodrigo Escandon</a:t>
            </a:r>
            <a:endParaRPr lang="en-US" sz="2800" dirty="0">
              <a:solidFill>
                <a:srgbClr val="000000"/>
              </a:solidFill>
              <a:cs typeface="Calibri"/>
            </a:endParaRPr>
          </a:p>
          <a:p>
            <a:pPr>
              <a:spcBef>
                <a:spcPts val="0"/>
              </a:spcBef>
            </a:pPr>
            <a:r>
              <a:rPr lang="en-US" sz="2400" b="1" dirty="0">
                <a:solidFill>
                  <a:srgbClr val="F79646"/>
                </a:solidFill>
                <a:cs typeface="Calibri"/>
              </a:rPr>
              <a:t>steven.kirtzic@usaa.com</a:t>
            </a:r>
            <a:r>
              <a:rPr lang="en-US" sz="2400" b="1" dirty="0">
                <a:solidFill>
                  <a:schemeClr val="accent6"/>
                </a:solidFill>
                <a:cs typeface="Calibri"/>
              </a:rPr>
              <a:t> | </a:t>
            </a:r>
            <a:r>
              <a:rPr lang="en-US" sz="2400" b="1" dirty="0" err="1">
                <a:solidFill>
                  <a:srgbClr val="F79646"/>
                </a:solidFill>
                <a:cs typeface="Calibri"/>
              </a:rPr>
              <a:t>mohamed.meddouri@usaa.com</a:t>
            </a:r>
            <a:r>
              <a:rPr lang="en-US" sz="2400" b="1" dirty="0">
                <a:solidFill>
                  <a:schemeClr val="accent6"/>
                </a:solidFill>
                <a:cs typeface="Calibri"/>
              </a:rPr>
              <a:t> | </a:t>
            </a:r>
            <a:r>
              <a:rPr lang="en-US" sz="2400" b="1" dirty="0" err="1">
                <a:solidFill>
                  <a:schemeClr val="accent6"/>
                </a:solidFill>
                <a:cs typeface="Calibri"/>
              </a:rPr>
              <a:t>rodrigo.escandon@usaa.com</a:t>
            </a:r>
            <a:endParaRPr lang="en-US" sz="2400" dirty="0">
              <a:solidFill>
                <a:schemeClr val="accent6"/>
              </a:solidFill>
              <a:cs typeface="Calibri"/>
            </a:endParaRPr>
          </a:p>
          <a:p>
            <a:pPr lvl="0">
              <a:spcBef>
                <a:spcPts val="0"/>
              </a:spcBef>
            </a:pPr>
            <a:endParaRPr lang="en-US" sz="1800" b="1" dirty="0">
              <a:solidFill>
                <a:prstClr val="black"/>
              </a:solidFill>
            </a:endParaRPr>
          </a:p>
          <a:p>
            <a:pPr lvl="0">
              <a:spcBef>
                <a:spcPts val="0"/>
              </a:spcBef>
            </a:pPr>
            <a:endParaRPr lang="en-US" sz="1800" b="1" dirty="0">
              <a:solidFill>
                <a:prstClr val="black"/>
              </a:solidFill>
            </a:endParaRPr>
          </a:p>
          <a:p>
            <a:endParaRPr lang="en-US" dirty="0"/>
          </a:p>
        </p:txBody>
      </p:sp>
      <p:pic>
        <p:nvPicPr>
          <p:cNvPr id="16" name="Audio 15">
            <a:extLst>
              <a:ext uri="{FF2B5EF4-FFF2-40B4-BE49-F238E27FC236}">
                <a16:creationId xmlns:a16="http://schemas.microsoft.com/office/drawing/2014/main" id="{C0F35C76-86F4-106F-91CF-A2B3919C531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extLst>
      <p:ext uri="{BB962C8B-B14F-4D97-AF65-F5344CB8AC3E}">
        <p14:creationId xmlns:p14="http://schemas.microsoft.com/office/powerpoint/2010/main" val="1273440740"/>
      </p:ext>
    </p:extLst>
  </p:cSld>
  <p:clrMapOvr>
    <a:masterClrMapping/>
  </p:clrMapOvr>
  <mc:AlternateContent xmlns:mc="http://schemas.openxmlformats.org/markup-compatibility/2006" xmlns:p14="http://schemas.microsoft.com/office/powerpoint/2010/main">
    <mc:Choice Requires="p14">
      <p:transition spd="slow" p14:dur="2000" advTm="22269"/>
    </mc:Choice>
    <mc:Fallback xmlns="">
      <p:transition spd="slow" advTm="222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1737" y="1170687"/>
            <a:ext cx="8491268" cy="643246"/>
          </a:xfrm>
        </p:spPr>
        <p:txBody>
          <a:bodyPr>
            <a:normAutofit fontScale="90000"/>
          </a:bodyPr>
          <a:lstStyle/>
          <a:p>
            <a:pPr algn="l"/>
            <a:r>
              <a:rPr lang="en-US" sz="2400" b="1" dirty="0">
                <a:solidFill>
                  <a:prstClr val="black"/>
                </a:solidFill>
              </a:rPr>
              <a:t>“Data </a:t>
            </a:r>
            <a:r>
              <a:rPr lang="en-US" sz="2400" b="1" dirty="0" err="1">
                <a:solidFill>
                  <a:prstClr val="black"/>
                </a:solidFill>
              </a:rPr>
              <a:t>Gener</a:t>
            </a:r>
            <a:r>
              <a:rPr lang="en-US" sz="2400" b="1" dirty="0" err="1">
                <a:solidFill>
                  <a:schemeClr val="accent6"/>
                </a:solidFill>
              </a:rPr>
              <a:t>AI</a:t>
            </a:r>
            <a:r>
              <a:rPr lang="en-US" sz="2400" b="1" dirty="0" err="1">
                <a:solidFill>
                  <a:prstClr val="black"/>
                </a:solidFill>
              </a:rPr>
              <a:t>tion</a:t>
            </a:r>
            <a:r>
              <a:rPr lang="en-US" sz="2400" b="1" dirty="0">
                <a:solidFill>
                  <a:prstClr val="black"/>
                </a:solidFill>
              </a:rPr>
              <a:t>”</a:t>
            </a:r>
            <a:br>
              <a:rPr lang="en-US" sz="2400" dirty="0">
                <a:solidFill>
                  <a:prstClr val="black"/>
                </a:solidFill>
              </a:rPr>
            </a:br>
            <a:r>
              <a:rPr lang="en-US" sz="2400" dirty="0">
                <a:solidFill>
                  <a:prstClr val="black"/>
                </a:solidFill>
              </a:rPr>
              <a:t>USAA</a:t>
            </a:r>
            <a:endParaRPr lang="en-US" sz="4000" dirty="0"/>
          </a:p>
        </p:txBody>
      </p:sp>
      <p:sp>
        <p:nvSpPr>
          <p:cNvPr id="3" name="Subtitle 2"/>
          <p:cNvSpPr>
            <a:spLocks noGrp="1"/>
          </p:cNvSpPr>
          <p:nvPr>
            <p:ph type="subTitle" idx="1"/>
          </p:nvPr>
        </p:nvSpPr>
        <p:spPr>
          <a:xfrm>
            <a:off x="914400" y="2016193"/>
            <a:ext cx="7315200" cy="3440430"/>
          </a:xfrm>
        </p:spPr>
        <p:txBody>
          <a:bodyPr>
            <a:normAutofit/>
          </a:bodyPr>
          <a:lstStyle/>
          <a:p>
            <a:pPr lvl="0" algn="l">
              <a:spcBef>
                <a:spcPts val="0"/>
              </a:spcBef>
            </a:pPr>
            <a:r>
              <a:rPr lang="en-US" sz="3000" b="1" dirty="0">
                <a:solidFill>
                  <a:prstClr val="black"/>
                </a:solidFill>
              </a:rPr>
              <a:t>Company Overview:</a:t>
            </a:r>
          </a:p>
          <a:p>
            <a:pPr lvl="1" algn="l">
              <a:spcBef>
                <a:spcPts val="0"/>
              </a:spcBef>
            </a:pPr>
            <a:r>
              <a:rPr lang="en-US" sz="2200" b="1" i="0" dirty="0">
                <a:solidFill>
                  <a:srgbClr val="E46F1F"/>
                </a:solidFill>
                <a:effectLst/>
              </a:rPr>
              <a:t>The mission of USAA is to facilitate the financial security of its members, associates, and their families through provision of a full range of highly competitive financial products and services; in so doing, USAA seeks to be the provider of choice for the military community</a:t>
            </a:r>
            <a:endParaRPr lang="en-US" sz="2200" b="1" dirty="0">
              <a:solidFill>
                <a:srgbClr val="E46F1F"/>
              </a:solidFill>
            </a:endParaRPr>
          </a:p>
        </p:txBody>
      </p:sp>
      <p:pic>
        <p:nvPicPr>
          <p:cNvPr id="20" name="Audio 19">
            <a:extLst>
              <a:ext uri="{FF2B5EF4-FFF2-40B4-BE49-F238E27FC236}">
                <a16:creationId xmlns:a16="http://schemas.microsoft.com/office/drawing/2014/main" id="{5EE21674-7329-C921-7C68-36D7B461674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extLst>
      <p:ext uri="{BB962C8B-B14F-4D97-AF65-F5344CB8AC3E}">
        <p14:creationId xmlns:p14="http://schemas.microsoft.com/office/powerpoint/2010/main" val="4061970593"/>
      </p:ext>
    </p:extLst>
  </p:cSld>
  <p:clrMapOvr>
    <a:masterClrMapping/>
  </p:clrMapOvr>
  <mc:AlternateContent xmlns:mc="http://schemas.openxmlformats.org/markup-compatibility/2006" xmlns:p14="http://schemas.microsoft.com/office/powerpoint/2010/main">
    <mc:Choice Requires="p14">
      <p:transition spd="slow" p14:dur="2000" advTm="22467"/>
    </mc:Choice>
    <mc:Fallback xmlns="">
      <p:transition spd="slow" advTm="2246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1736" y="1170687"/>
            <a:ext cx="8331779" cy="643246"/>
          </a:xfrm>
        </p:spPr>
        <p:txBody>
          <a:bodyPr>
            <a:normAutofit fontScale="90000"/>
          </a:bodyPr>
          <a:lstStyle/>
          <a:p>
            <a:pPr algn="l"/>
            <a:r>
              <a:rPr lang="en-US" sz="2400" b="1" dirty="0">
                <a:solidFill>
                  <a:prstClr val="black"/>
                </a:solidFill>
              </a:rPr>
              <a:t>“Data </a:t>
            </a:r>
            <a:r>
              <a:rPr lang="en-US" sz="2400" b="1" dirty="0" err="1">
                <a:solidFill>
                  <a:prstClr val="black"/>
                </a:solidFill>
              </a:rPr>
              <a:t>Gener</a:t>
            </a:r>
            <a:r>
              <a:rPr lang="en-US" sz="2400" b="1" dirty="0" err="1">
                <a:solidFill>
                  <a:schemeClr val="accent6"/>
                </a:solidFill>
              </a:rPr>
              <a:t>AI</a:t>
            </a:r>
            <a:r>
              <a:rPr lang="en-US" sz="2400" b="1" dirty="0" err="1">
                <a:solidFill>
                  <a:prstClr val="black"/>
                </a:solidFill>
              </a:rPr>
              <a:t>tion</a:t>
            </a:r>
            <a:r>
              <a:rPr lang="en-US" sz="2400" b="1" dirty="0">
                <a:solidFill>
                  <a:prstClr val="black"/>
                </a:solidFill>
              </a:rPr>
              <a:t>”</a:t>
            </a:r>
            <a:br>
              <a:rPr lang="en-US" sz="2400" dirty="0">
                <a:solidFill>
                  <a:prstClr val="black"/>
                </a:solidFill>
              </a:rPr>
            </a:br>
            <a:r>
              <a:rPr lang="en-US" sz="2400" dirty="0">
                <a:solidFill>
                  <a:prstClr val="black"/>
                </a:solidFill>
              </a:rPr>
              <a:t>USAA</a:t>
            </a:r>
            <a:endParaRPr lang="en-US" sz="4000" dirty="0"/>
          </a:p>
        </p:txBody>
      </p:sp>
      <p:sp>
        <p:nvSpPr>
          <p:cNvPr id="3" name="Subtitle 2"/>
          <p:cNvSpPr>
            <a:spLocks noGrp="1"/>
          </p:cNvSpPr>
          <p:nvPr>
            <p:ph type="subTitle" idx="1"/>
          </p:nvPr>
        </p:nvSpPr>
        <p:spPr>
          <a:xfrm>
            <a:off x="914400" y="2014604"/>
            <a:ext cx="7315200" cy="3440430"/>
          </a:xfrm>
        </p:spPr>
        <p:txBody>
          <a:bodyPr>
            <a:normAutofit fontScale="92500"/>
          </a:bodyPr>
          <a:lstStyle/>
          <a:p>
            <a:pPr lvl="0" algn="l">
              <a:spcBef>
                <a:spcPts val="0"/>
              </a:spcBef>
            </a:pPr>
            <a:r>
              <a:rPr lang="en-US" b="1" dirty="0">
                <a:solidFill>
                  <a:prstClr val="black"/>
                </a:solidFill>
              </a:rPr>
              <a:t>Project Background:</a:t>
            </a:r>
          </a:p>
          <a:p>
            <a:pPr lvl="1" algn="l">
              <a:spcBef>
                <a:spcPts val="0"/>
              </a:spcBef>
            </a:pPr>
            <a:r>
              <a:rPr lang="en-US" sz="2400" b="1" dirty="0">
                <a:solidFill>
                  <a:schemeClr val="accent6">
                    <a:lumMod val="75000"/>
                  </a:schemeClr>
                </a:solidFill>
              </a:rPr>
              <a:t>At USAA we work with a variety of Machine Learning/AI technologies for various purposes, ranging from statistical models to Computer Vision, Natural Language Processing, and now Generative AI models. The Insurance Data Science team (IDS) is an exploratory research team which utilizes cutting-edge tools and data to develop models which not only advance our members’ experience but also that of our associates and employees</a:t>
            </a:r>
            <a:endParaRPr lang="en-US" sz="2400" dirty="0">
              <a:solidFill>
                <a:schemeClr val="accent6">
                  <a:lumMod val="75000"/>
                </a:schemeClr>
              </a:solidFill>
            </a:endParaRPr>
          </a:p>
        </p:txBody>
      </p:sp>
      <p:pic>
        <p:nvPicPr>
          <p:cNvPr id="14" name="Audio 13">
            <a:extLst>
              <a:ext uri="{FF2B5EF4-FFF2-40B4-BE49-F238E27FC236}">
                <a16:creationId xmlns:a16="http://schemas.microsoft.com/office/drawing/2014/main" id="{F22A9EAD-D272-A8B5-D980-2C40DA5E013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extLst>
      <p:ext uri="{BB962C8B-B14F-4D97-AF65-F5344CB8AC3E}">
        <p14:creationId xmlns:p14="http://schemas.microsoft.com/office/powerpoint/2010/main" val="328866454"/>
      </p:ext>
    </p:extLst>
  </p:cSld>
  <p:clrMapOvr>
    <a:masterClrMapping/>
  </p:clrMapOvr>
  <mc:AlternateContent xmlns:mc="http://schemas.openxmlformats.org/markup-compatibility/2006" xmlns:p14="http://schemas.microsoft.com/office/powerpoint/2010/main">
    <mc:Choice Requires="p14">
      <p:transition spd="slow" p14:dur="2000" advTm="30768"/>
    </mc:Choice>
    <mc:Fallback xmlns="">
      <p:transition spd="slow" advTm="307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1737" y="1170687"/>
            <a:ext cx="8278616" cy="643246"/>
          </a:xfrm>
        </p:spPr>
        <p:txBody>
          <a:bodyPr>
            <a:normAutofit fontScale="90000"/>
          </a:bodyPr>
          <a:lstStyle/>
          <a:p>
            <a:pPr algn="l"/>
            <a:r>
              <a:rPr lang="en-US" sz="2400" b="1" dirty="0">
                <a:solidFill>
                  <a:prstClr val="black"/>
                </a:solidFill>
              </a:rPr>
              <a:t>“Data </a:t>
            </a:r>
            <a:r>
              <a:rPr lang="en-US" sz="2400" b="1" dirty="0" err="1">
                <a:solidFill>
                  <a:prstClr val="black"/>
                </a:solidFill>
              </a:rPr>
              <a:t>Gener</a:t>
            </a:r>
            <a:r>
              <a:rPr lang="en-US" sz="2400" b="1" dirty="0" err="1">
                <a:solidFill>
                  <a:schemeClr val="accent6"/>
                </a:solidFill>
              </a:rPr>
              <a:t>AI</a:t>
            </a:r>
            <a:r>
              <a:rPr lang="en-US" sz="2400" b="1" dirty="0" err="1">
                <a:solidFill>
                  <a:prstClr val="black"/>
                </a:solidFill>
              </a:rPr>
              <a:t>tion</a:t>
            </a:r>
            <a:r>
              <a:rPr lang="en-US" sz="2400" b="1" dirty="0">
                <a:solidFill>
                  <a:prstClr val="black"/>
                </a:solidFill>
              </a:rPr>
              <a:t>”</a:t>
            </a:r>
            <a:br>
              <a:rPr lang="en-US" sz="2400" dirty="0">
                <a:solidFill>
                  <a:prstClr val="black"/>
                </a:solidFill>
              </a:rPr>
            </a:br>
            <a:r>
              <a:rPr lang="en-US" sz="2400" dirty="0">
                <a:solidFill>
                  <a:prstClr val="black"/>
                </a:solidFill>
              </a:rPr>
              <a:t>USAA</a:t>
            </a:r>
            <a:endParaRPr lang="en-US" sz="4000" dirty="0"/>
          </a:p>
        </p:txBody>
      </p:sp>
      <p:sp>
        <p:nvSpPr>
          <p:cNvPr id="3" name="Subtitle 2"/>
          <p:cNvSpPr>
            <a:spLocks noGrp="1"/>
          </p:cNvSpPr>
          <p:nvPr>
            <p:ph type="subTitle" idx="1"/>
          </p:nvPr>
        </p:nvSpPr>
        <p:spPr>
          <a:xfrm>
            <a:off x="914400" y="2003971"/>
            <a:ext cx="7315200" cy="4290503"/>
          </a:xfrm>
        </p:spPr>
        <p:txBody>
          <a:bodyPr>
            <a:normAutofit/>
          </a:bodyPr>
          <a:lstStyle/>
          <a:p>
            <a:pPr lvl="0" algn="l">
              <a:spcBef>
                <a:spcPts val="0"/>
              </a:spcBef>
            </a:pPr>
            <a:r>
              <a:rPr lang="en-US" sz="3000" b="1" dirty="0">
                <a:solidFill>
                  <a:prstClr val="black"/>
                </a:solidFill>
              </a:rPr>
              <a:t>Project Objectives:</a:t>
            </a:r>
            <a:endParaRPr lang="en-US" sz="3000" b="0" i="0" dirty="0">
              <a:solidFill>
                <a:srgbClr val="1D1C1D"/>
              </a:solidFill>
              <a:effectLst/>
            </a:endParaRPr>
          </a:p>
          <a:p>
            <a:pPr lvl="1" algn="l">
              <a:spcBef>
                <a:spcPts val="0"/>
              </a:spcBef>
            </a:pPr>
            <a:r>
              <a:rPr lang="en-US" sz="2200" b="1" i="0" dirty="0">
                <a:solidFill>
                  <a:schemeClr val="accent6">
                    <a:lumMod val="75000"/>
                  </a:schemeClr>
                </a:solidFill>
                <a:effectLst/>
                <a:latin typeface="Slack-Lato"/>
              </a:rPr>
              <a:t>This project is a Gen AI LLM w/RAG solution to b</a:t>
            </a:r>
            <a:r>
              <a:rPr lang="en-US" sz="2200" b="1" dirty="0">
                <a:solidFill>
                  <a:schemeClr val="accent6">
                    <a:lumMod val="75000"/>
                  </a:schemeClr>
                </a:solidFill>
              </a:rPr>
              <a:t>uild a conversational AI platform enabling business users to ask an intuitive chat-bot type of interface to generate fabricated data that simulates the type of data that we use at USAA for model training. The goal is to prove out whether or not the current Gen AI models available are </a:t>
            </a:r>
            <a:r>
              <a:rPr lang="en-US" sz="2200" b="1" dirty="0" err="1">
                <a:solidFill>
                  <a:schemeClr val="accent6">
                    <a:lumMod val="75000"/>
                  </a:schemeClr>
                </a:solidFill>
              </a:rPr>
              <a:t>capabile</a:t>
            </a:r>
            <a:r>
              <a:rPr lang="en-US" sz="2200" b="1" dirty="0">
                <a:solidFill>
                  <a:schemeClr val="accent6">
                    <a:lumMod val="75000"/>
                  </a:schemeClr>
                </a:solidFill>
              </a:rPr>
              <a:t> of producing simulated data that is of a quality good enough to accurately train a model that can perform inference comparable to a model that is trained with ground truth data</a:t>
            </a:r>
            <a:endParaRPr lang="en-US" sz="2200" b="1" i="0" dirty="0">
              <a:solidFill>
                <a:schemeClr val="accent6">
                  <a:lumMod val="75000"/>
                </a:schemeClr>
              </a:solidFill>
              <a:effectLst/>
              <a:latin typeface="Slack-Lato"/>
            </a:endParaRPr>
          </a:p>
        </p:txBody>
      </p:sp>
      <p:pic>
        <p:nvPicPr>
          <p:cNvPr id="8" name="Audio 7">
            <a:extLst>
              <a:ext uri="{FF2B5EF4-FFF2-40B4-BE49-F238E27FC236}">
                <a16:creationId xmlns:a16="http://schemas.microsoft.com/office/drawing/2014/main" id="{40F017D8-C738-3E0A-0F85-A750027D2FC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extLst>
      <p:ext uri="{BB962C8B-B14F-4D97-AF65-F5344CB8AC3E}">
        <p14:creationId xmlns:p14="http://schemas.microsoft.com/office/powerpoint/2010/main" val="4126573086"/>
      </p:ext>
    </p:extLst>
  </p:cSld>
  <p:clrMapOvr>
    <a:masterClrMapping/>
  </p:clrMapOvr>
  <mc:AlternateContent xmlns:mc="http://schemas.openxmlformats.org/markup-compatibility/2006" xmlns:p14="http://schemas.microsoft.com/office/powerpoint/2010/main">
    <mc:Choice Requires="p14">
      <p:transition spd="slow" p14:dur="2000" advTm="39424"/>
    </mc:Choice>
    <mc:Fallback xmlns="">
      <p:transition spd="slow" advTm="394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25178-3BE1-1EC6-58F3-059FFB1DE0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8FAA1E-570B-680C-838B-2CC738BBC867}"/>
              </a:ext>
            </a:extLst>
          </p:cNvPr>
          <p:cNvSpPr>
            <a:spLocks noGrp="1"/>
          </p:cNvSpPr>
          <p:nvPr>
            <p:ph type="ctrTitle"/>
          </p:nvPr>
        </p:nvSpPr>
        <p:spPr>
          <a:xfrm>
            <a:off x="131737" y="1170687"/>
            <a:ext cx="8278616" cy="643246"/>
          </a:xfrm>
        </p:spPr>
        <p:txBody>
          <a:bodyPr>
            <a:normAutofit fontScale="90000"/>
          </a:bodyPr>
          <a:lstStyle/>
          <a:p>
            <a:pPr algn="l"/>
            <a:r>
              <a:rPr lang="en-US" sz="2400" b="1" dirty="0">
                <a:solidFill>
                  <a:prstClr val="black"/>
                </a:solidFill>
              </a:rPr>
              <a:t>“Data </a:t>
            </a:r>
            <a:r>
              <a:rPr lang="en-US" sz="2400" b="1" dirty="0" err="1">
                <a:solidFill>
                  <a:prstClr val="black"/>
                </a:solidFill>
              </a:rPr>
              <a:t>Gener</a:t>
            </a:r>
            <a:r>
              <a:rPr lang="en-US" sz="2400" b="1" dirty="0" err="1">
                <a:solidFill>
                  <a:schemeClr val="accent6"/>
                </a:solidFill>
              </a:rPr>
              <a:t>AI</a:t>
            </a:r>
            <a:r>
              <a:rPr lang="en-US" sz="2400" b="1" dirty="0" err="1">
                <a:solidFill>
                  <a:prstClr val="black"/>
                </a:solidFill>
              </a:rPr>
              <a:t>tion</a:t>
            </a:r>
            <a:r>
              <a:rPr lang="en-US" sz="2400" b="1" dirty="0">
                <a:solidFill>
                  <a:prstClr val="black"/>
                </a:solidFill>
              </a:rPr>
              <a:t>”</a:t>
            </a:r>
            <a:br>
              <a:rPr lang="en-US" sz="2400" dirty="0">
                <a:solidFill>
                  <a:prstClr val="black"/>
                </a:solidFill>
              </a:rPr>
            </a:br>
            <a:r>
              <a:rPr lang="en-US" sz="2400" dirty="0">
                <a:solidFill>
                  <a:prstClr val="black"/>
                </a:solidFill>
              </a:rPr>
              <a:t>USAA</a:t>
            </a:r>
            <a:endParaRPr lang="en-US" sz="4000" dirty="0"/>
          </a:p>
        </p:txBody>
      </p:sp>
      <p:sp>
        <p:nvSpPr>
          <p:cNvPr id="3" name="Subtitle 2">
            <a:extLst>
              <a:ext uri="{FF2B5EF4-FFF2-40B4-BE49-F238E27FC236}">
                <a16:creationId xmlns:a16="http://schemas.microsoft.com/office/drawing/2014/main" id="{031AD947-1D28-C2C8-16E4-9F8E066DAA44}"/>
              </a:ext>
            </a:extLst>
          </p:cNvPr>
          <p:cNvSpPr>
            <a:spLocks noGrp="1"/>
          </p:cNvSpPr>
          <p:nvPr>
            <p:ph type="subTitle" idx="1"/>
          </p:nvPr>
        </p:nvSpPr>
        <p:spPr>
          <a:xfrm>
            <a:off x="914400" y="1993338"/>
            <a:ext cx="7315200" cy="4290503"/>
          </a:xfrm>
        </p:spPr>
        <p:txBody>
          <a:bodyPr>
            <a:normAutofit/>
          </a:bodyPr>
          <a:lstStyle/>
          <a:p>
            <a:pPr lvl="0" algn="l">
              <a:spcBef>
                <a:spcPts val="0"/>
              </a:spcBef>
            </a:pPr>
            <a:r>
              <a:rPr lang="en-US" sz="3000" b="1" dirty="0">
                <a:solidFill>
                  <a:prstClr val="black"/>
                </a:solidFill>
              </a:rPr>
              <a:t>Summary of the most important functional requirements:</a:t>
            </a:r>
          </a:p>
          <a:p>
            <a:pPr marL="342900" lvl="0" indent="-342900" algn="l">
              <a:spcBef>
                <a:spcPts val="0"/>
              </a:spcBef>
              <a:buFont typeface="Arial" panose="020B0604020202020204" pitchFamily="34" charset="0"/>
              <a:buChar char="•"/>
            </a:pPr>
            <a:r>
              <a:rPr lang="en-US" sz="2200" b="1" dirty="0">
                <a:solidFill>
                  <a:schemeClr val="accent6">
                    <a:lumMod val="75000"/>
                  </a:schemeClr>
                </a:solidFill>
              </a:rPr>
              <a:t>Create an LLM which is capable of generating data according to the prescribed guidelines</a:t>
            </a:r>
          </a:p>
          <a:p>
            <a:pPr marL="342900" lvl="0" indent="-342900" algn="l">
              <a:spcBef>
                <a:spcPts val="0"/>
              </a:spcBef>
              <a:buFont typeface="Arial" panose="020B0604020202020204" pitchFamily="34" charset="0"/>
              <a:buChar char="•"/>
            </a:pPr>
            <a:r>
              <a:rPr lang="en-US" sz="2200" b="1" dirty="0">
                <a:solidFill>
                  <a:schemeClr val="accent6">
                    <a:lumMod val="75000"/>
                  </a:schemeClr>
                </a:solidFill>
              </a:rPr>
              <a:t>Build an agentic AI model in Snowflake using the fabricated data</a:t>
            </a:r>
          </a:p>
          <a:p>
            <a:pPr marL="342900" lvl="0" indent="-342900" algn="l">
              <a:spcBef>
                <a:spcPts val="0"/>
              </a:spcBef>
              <a:buFont typeface="Arial" panose="020B0604020202020204" pitchFamily="34" charset="0"/>
              <a:buChar char="•"/>
            </a:pPr>
            <a:r>
              <a:rPr lang="en-US" sz="2200" b="1" dirty="0">
                <a:solidFill>
                  <a:schemeClr val="accent6">
                    <a:lumMod val="75000"/>
                  </a:schemeClr>
                </a:solidFill>
              </a:rPr>
              <a:t>Build another agentic AI model in Snowflake using “ground truth” data</a:t>
            </a:r>
          </a:p>
          <a:p>
            <a:pPr marL="342900" lvl="0" indent="-342900" algn="l">
              <a:spcBef>
                <a:spcPts val="0"/>
              </a:spcBef>
              <a:buFont typeface="Arial" panose="020B0604020202020204" pitchFamily="34" charset="0"/>
              <a:buChar char="•"/>
            </a:pPr>
            <a:r>
              <a:rPr lang="en-US" sz="2200" b="1" dirty="0">
                <a:solidFill>
                  <a:schemeClr val="accent6">
                    <a:lumMod val="75000"/>
                  </a:schemeClr>
                </a:solidFill>
              </a:rPr>
              <a:t>Run inference on both models with the same dataset and compare the results</a:t>
            </a:r>
          </a:p>
          <a:p>
            <a:pPr marL="342900" lvl="0" indent="-342900" algn="l">
              <a:spcBef>
                <a:spcPts val="0"/>
              </a:spcBef>
              <a:buFont typeface="Arial" panose="020B0604020202020204" pitchFamily="34" charset="0"/>
              <a:buChar char="•"/>
            </a:pPr>
            <a:r>
              <a:rPr lang="en-US" sz="2200" b="1" dirty="0">
                <a:solidFill>
                  <a:schemeClr val="accent6">
                    <a:lumMod val="75000"/>
                  </a:schemeClr>
                </a:solidFill>
              </a:rPr>
              <a:t>Create an easy to use UI for data generation (stretch goal)</a:t>
            </a:r>
          </a:p>
          <a:p>
            <a:pPr marL="285750" lvl="0" indent="-285750" algn="l">
              <a:spcBef>
                <a:spcPts val="0"/>
              </a:spcBef>
              <a:buFont typeface="Arial" panose="020B0604020202020204" pitchFamily="34" charset="0"/>
              <a:buChar char="•"/>
            </a:pPr>
            <a:endParaRPr lang="en-US" sz="2200" b="1" i="0" dirty="0">
              <a:solidFill>
                <a:schemeClr val="accent6">
                  <a:lumMod val="75000"/>
                </a:schemeClr>
              </a:solidFill>
              <a:effectLst/>
              <a:latin typeface="Slack-Lato"/>
            </a:endParaRPr>
          </a:p>
        </p:txBody>
      </p:sp>
      <p:pic>
        <p:nvPicPr>
          <p:cNvPr id="13" name="Audio 12">
            <a:extLst>
              <a:ext uri="{FF2B5EF4-FFF2-40B4-BE49-F238E27FC236}">
                <a16:creationId xmlns:a16="http://schemas.microsoft.com/office/drawing/2014/main" id="{EC89CD9B-0E13-7006-B099-B2DD206B8A9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extLst>
      <p:ext uri="{BB962C8B-B14F-4D97-AF65-F5344CB8AC3E}">
        <p14:creationId xmlns:p14="http://schemas.microsoft.com/office/powerpoint/2010/main" val="269113178"/>
      </p:ext>
    </p:extLst>
  </p:cSld>
  <p:clrMapOvr>
    <a:masterClrMapping/>
  </p:clrMapOvr>
  <mc:AlternateContent xmlns:mc="http://schemas.openxmlformats.org/markup-compatibility/2006" xmlns:p14="http://schemas.microsoft.com/office/powerpoint/2010/main">
    <mc:Choice Requires="p14">
      <p:transition spd="slow" p14:dur="2000" advTm="35163"/>
    </mc:Choice>
    <mc:Fallback xmlns="">
      <p:transition spd="slow" advTm="3516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1737" y="1170687"/>
            <a:ext cx="8374310" cy="643246"/>
          </a:xfrm>
        </p:spPr>
        <p:txBody>
          <a:bodyPr>
            <a:normAutofit fontScale="90000"/>
          </a:bodyPr>
          <a:lstStyle/>
          <a:p>
            <a:pPr algn="l"/>
            <a:r>
              <a:rPr lang="en-US" sz="2400" b="1" dirty="0">
                <a:solidFill>
                  <a:prstClr val="black"/>
                </a:solidFill>
              </a:rPr>
              <a:t>“Data </a:t>
            </a:r>
            <a:r>
              <a:rPr lang="en-US" sz="2400" b="1" dirty="0" err="1">
                <a:solidFill>
                  <a:prstClr val="black"/>
                </a:solidFill>
              </a:rPr>
              <a:t>Gener</a:t>
            </a:r>
            <a:r>
              <a:rPr lang="en-US" sz="2400" b="1" dirty="0" err="1">
                <a:solidFill>
                  <a:schemeClr val="accent6"/>
                </a:solidFill>
              </a:rPr>
              <a:t>AI</a:t>
            </a:r>
            <a:r>
              <a:rPr lang="en-US" sz="2400" b="1" dirty="0" err="1">
                <a:solidFill>
                  <a:prstClr val="black"/>
                </a:solidFill>
              </a:rPr>
              <a:t>tion</a:t>
            </a:r>
            <a:r>
              <a:rPr lang="en-US" sz="2400" b="1" dirty="0">
                <a:solidFill>
                  <a:prstClr val="black"/>
                </a:solidFill>
              </a:rPr>
              <a:t>”</a:t>
            </a:r>
            <a:br>
              <a:rPr lang="en-US" sz="2400" dirty="0">
                <a:solidFill>
                  <a:prstClr val="black"/>
                </a:solidFill>
              </a:rPr>
            </a:br>
            <a:r>
              <a:rPr lang="en-US" sz="2400" dirty="0">
                <a:solidFill>
                  <a:prstClr val="black"/>
                </a:solidFill>
              </a:rPr>
              <a:t>USAA</a:t>
            </a:r>
            <a:endParaRPr lang="en-US" sz="4000" dirty="0"/>
          </a:p>
        </p:txBody>
      </p:sp>
      <p:sp>
        <p:nvSpPr>
          <p:cNvPr id="3" name="Subtitle 2"/>
          <p:cNvSpPr>
            <a:spLocks noGrp="1"/>
          </p:cNvSpPr>
          <p:nvPr>
            <p:ph type="subTitle" idx="1"/>
          </p:nvPr>
        </p:nvSpPr>
        <p:spPr>
          <a:xfrm>
            <a:off x="914400" y="1837092"/>
            <a:ext cx="7315200" cy="3993530"/>
          </a:xfrm>
        </p:spPr>
        <p:txBody>
          <a:bodyPr>
            <a:normAutofit fontScale="92500" lnSpcReduction="20000"/>
          </a:bodyPr>
          <a:lstStyle/>
          <a:p>
            <a:pPr lvl="0">
              <a:spcBef>
                <a:spcPts val="0"/>
              </a:spcBef>
            </a:pPr>
            <a:r>
              <a:rPr lang="en-US" b="1" dirty="0">
                <a:solidFill>
                  <a:prstClr val="black"/>
                </a:solidFill>
              </a:rPr>
              <a:t>Skill Sets</a:t>
            </a:r>
          </a:p>
          <a:p>
            <a:pPr lvl="0">
              <a:spcBef>
                <a:spcPts val="0"/>
              </a:spcBef>
            </a:pPr>
            <a:endParaRPr lang="en-US" sz="2400" b="1" dirty="0">
              <a:solidFill>
                <a:prstClr val="black"/>
              </a:solidFill>
            </a:endParaRPr>
          </a:p>
          <a:p>
            <a:pPr lvl="0">
              <a:spcBef>
                <a:spcPts val="0"/>
              </a:spcBef>
            </a:pPr>
            <a:r>
              <a:rPr lang="en-US" sz="2800" b="1" dirty="0">
                <a:solidFill>
                  <a:prstClr val="black"/>
                </a:solidFill>
              </a:rPr>
              <a:t>Required Skills</a:t>
            </a:r>
          </a:p>
          <a:p>
            <a:pPr lvl="0">
              <a:spcBef>
                <a:spcPts val="0"/>
              </a:spcBef>
            </a:pPr>
            <a:r>
              <a:rPr lang="en-US" sz="2400" b="1" i="0" u="none" strike="noStrike" dirty="0">
                <a:solidFill>
                  <a:srgbClr val="E46F1F"/>
                </a:solidFill>
                <a:effectLst/>
              </a:rPr>
              <a:t>Python, Machine Learning (preferably in Natural Language Processing), RDBMS, SQL, </a:t>
            </a:r>
            <a:r>
              <a:rPr lang="en-US" sz="2400" b="1" dirty="0">
                <a:solidFill>
                  <a:srgbClr val="E46F1F"/>
                </a:solidFill>
              </a:rPr>
              <a:t>f</a:t>
            </a:r>
            <a:r>
              <a:rPr lang="en-US" sz="2400" b="1" i="0" u="none" strike="noStrike" dirty="0">
                <a:solidFill>
                  <a:srgbClr val="E46F1F"/>
                </a:solidFill>
                <a:effectLst/>
              </a:rPr>
              <a:t>ront-end development, good communication and organizational skills</a:t>
            </a:r>
          </a:p>
          <a:p>
            <a:pPr lvl="0">
              <a:spcBef>
                <a:spcPts val="0"/>
              </a:spcBef>
            </a:pPr>
            <a:endParaRPr lang="en-US" b="1" dirty="0">
              <a:solidFill>
                <a:prstClr val="black"/>
              </a:solidFill>
            </a:endParaRPr>
          </a:p>
          <a:p>
            <a:pPr lvl="0">
              <a:spcBef>
                <a:spcPts val="0"/>
              </a:spcBef>
            </a:pPr>
            <a:r>
              <a:rPr lang="en-US" sz="2800" b="1" dirty="0">
                <a:solidFill>
                  <a:prstClr val="black"/>
                </a:solidFill>
              </a:rPr>
              <a:t>Skills to be Developed </a:t>
            </a:r>
            <a:br>
              <a:rPr lang="en-US" b="1" dirty="0">
                <a:solidFill>
                  <a:prstClr val="black"/>
                </a:solidFill>
              </a:rPr>
            </a:br>
            <a:r>
              <a:rPr lang="en-US" sz="2400" b="1" dirty="0">
                <a:solidFill>
                  <a:schemeClr val="accent6">
                    <a:lumMod val="75000"/>
                  </a:schemeClr>
                </a:solidFill>
              </a:rPr>
              <a:t>LLM w/RAG system design and development, Multimodal Gen AI model development, prompt engineering, use with specific models and libraries such as Snowflake Cortex, </a:t>
            </a:r>
            <a:r>
              <a:rPr lang="en-US" sz="2400" b="1" dirty="0" err="1">
                <a:solidFill>
                  <a:schemeClr val="accent6">
                    <a:lumMod val="75000"/>
                  </a:schemeClr>
                </a:solidFill>
              </a:rPr>
              <a:t>HuggingFace</a:t>
            </a:r>
            <a:r>
              <a:rPr lang="en-US" sz="2400" b="1" dirty="0">
                <a:solidFill>
                  <a:schemeClr val="accent6">
                    <a:lumMod val="75000"/>
                  </a:schemeClr>
                </a:solidFill>
              </a:rPr>
              <a:t>, and OpenAI as well as technologies such as transformers and </a:t>
            </a:r>
            <a:r>
              <a:rPr lang="en-US" sz="2400" b="1" dirty="0" err="1">
                <a:solidFill>
                  <a:schemeClr val="accent6">
                    <a:lumMod val="75000"/>
                  </a:schemeClr>
                </a:solidFill>
              </a:rPr>
              <a:t>LangChain</a:t>
            </a:r>
            <a:endParaRPr lang="en-US" sz="2400" b="1" dirty="0">
              <a:solidFill>
                <a:schemeClr val="accent6">
                  <a:lumMod val="75000"/>
                </a:schemeClr>
              </a:solidFill>
            </a:endParaRPr>
          </a:p>
        </p:txBody>
      </p:sp>
      <p:pic>
        <p:nvPicPr>
          <p:cNvPr id="10" name="Audio 9">
            <a:extLst>
              <a:ext uri="{FF2B5EF4-FFF2-40B4-BE49-F238E27FC236}">
                <a16:creationId xmlns:a16="http://schemas.microsoft.com/office/drawing/2014/main" id="{0E048777-94FC-D970-3796-523D22FDC5A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extLst>
      <p:ext uri="{BB962C8B-B14F-4D97-AF65-F5344CB8AC3E}">
        <p14:creationId xmlns:p14="http://schemas.microsoft.com/office/powerpoint/2010/main" val="775240706"/>
      </p:ext>
    </p:extLst>
  </p:cSld>
  <p:clrMapOvr>
    <a:masterClrMapping/>
  </p:clrMapOvr>
  <mc:AlternateContent xmlns:mc="http://schemas.openxmlformats.org/markup-compatibility/2006" xmlns:p14="http://schemas.microsoft.com/office/powerpoint/2010/main">
    <mc:Choice Requires="p14">
      <p:transition spd="slow" p14:dur="2000" advTm="42965"/>
    </mc:Choice>
    <mc:Fallback xmlns="">
      <p:transition spd="slow" advTm="429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583" y="1177007"/>
            <a:ext cx="8375465" cy="643246"/>
          </a:xfrm>
        </p:spPr>
        <p:txBody>
          <a:bodyPr>
            <a:normAutofit fontScale="90000"/>
          </a:bodyPr>
          <a:lstStyle/>
          <a:p>
            <a:pPr algn="l"/>
            <a:r>
              <a:rPr lang="en-US" sz="2400" b="1" dirty="0">
                <a:solidFill>
                  <a:prstClr val="black"/>
                </a:solidFill>
              </a:rPr>
              <a:t>“Data </a:t>
            </a:r>
            <a:r>
              <a:rPr lang="en-US" sz="2400" b="1" dirty="0" err="1">
                <a:solidFill>
                  <a:prstClr val="black"/>
                </a:solidFill>
              </a:rPr>
              <a:t>Gener</a:t>
            </a:r>
            <a:r>
              <a:rPr lang="en-US" sz="2400" b="1" dirty="0" err="1">
                <a:solidFill>
                  <a:schemeClr val="accent6"/>
                </a:solidFill>
              </a:rPr>
              <a:t>AI</a:t>
            </a:r>
            <a:r>
              <a:rPr lang="en-US" sz="2400" b="1" dirty="0" err="1">
                <a:solidFill>
                  <a:prstClr val="black"/>
                </a:solidFill>
              </a:rPr>
              <a:t>tion</a:t>
            </a:r>
            <a:r>
              <a:rPr lang="en-US" sz="2400" b="1" dirty="0">
                <a:solidFill>
                  <a:prstClr val="black"/>
                </a:solidFill>
              </a:rPr>
              <a:t>”</a:t>
            </a:r>
            <a:br>
              <a:rPr lang="en-US" sz="2400" dirty="0">
                <a:solidFill>
                  <a:prstClr val="black"/>
                </a:solidFill>
              </a:rPr>
            </a:br>
            <a:r>
              <a:rPr lang="en-US" sz="2400" dirty="0">
                <a:solidFill>
                  <a:prstClr val="black"/>
                </a:solidFill>
              </a:rPr>
              <a:t>USAA</a:t>
            </a:r>
            <a:endParaRPr lang="en-US" sz="4000" dirty="0"/>
          </a:p>
        </p:txBody>
      </p:sp>
      <p:sp>
        <p:nvSpPr>
          <p:cNvPr id="3" name="Subtitle 2"/>
          <p:cNvSpPr>
            <a:spLocks noGrp="1"/>
          </p:cNvSpPr>
          <p:nvPr>
            <p:ph type="subTitle" idx="1"/>
          </p:nvPr>
        </p:nvSpPr>
        <p:spPr>
          <a:xfrm>
            <a:off x="914400" y="1721422"/>
            <a:ext cx="7315200" cy="4470714"/>
          </a:xfrm>
        </p:spPr>
        <p:txBody>
          <a:bodyPr>
            <a:normAutofit/>
          </a:bodyPr>
          <a:lstStyle/>
          <a:p>
            <a:pPr lvl="0">
              <a:spcBef>
                <a:spcPts val="0"/>
              </a:spcBef>
            </a:pPr>
            <a:r>
              <a:rPr lang="en-US" sz="3000" b="1" dirty="0">
                <a:solidFill>
                  <a:prstClr val="black"/>
                </a:solidFill>
              </a:rPr>
              <a:t>Logistics</a:t>
            </a:r>
          </a:p>
          <a:p>
            <a:pPr marL="342900" lvl="0" indent="-342900" algn="l">
              <a:spcBef>
                <a:spcPts val="0"/>
              </a:spcBef>
              <a:buFont typeface="Arial" panose="020B0604020202020204" pitchFamily="34" charset="0"/>
              <a:buChar char="•"/>
            </a:pPr>
            <a:r>
              <a:rPr lang="en-US" sz="2400" b="1" dirty="0">
                <a:solidFill>
                  <a:schemeClr val="accent6">
                    <a:lumMod val="75000"/>
                  </a:schemeClr>
                </a:solidFill>
              </a:rPr>
              <a:t>Students must be allowed to work in the US</a:t>
            </a:r>
          </a:p>
          <a:p>
            <a:pPr marL="342900" lvl="0" indent="-342900" algn="l">
              <a:spcBef>
                <a:spcPts val="0"/>
              </a:spcBef>
              <a:buFont typeface="Arial" panose="020B0604020202020204" pitchFamily="34" charset="0"/>
              <a:buChar char="•"/>
            </a:pPr>
            <a:r>
              <a:rPr lang="en-US" sz="2400" b="1" dirty="0">
                <a:solidFill>
                  <a:schemeClr val="accent6">
                    <a:lumMod val="75000"/>
                  </a:schemeClr>
                </a:solidFill>
              </a:rPr>
              <a:t>Meetings will be weekly via Zoom with in-person </a:t>
            </a:r>
            <a:r>
              <a:rPr lang="en-US" sz="2400" b="1">
                <a:solidFill>
                  <a:schemeClr val="accent6">
                    <a:lumMod val="75000"/>
                  </a:schemeClr>
                </a:solidFill>
              </a:rPr>
              <a:t>meetings if </a:t>
            </a:r>
            <a:r>
              <a:rPr lang="en-US" sz="2400" b="1" dirty="0">
                <a:solidFill>
                  <a:schemeClr val="accent6">
                    <a:lumMod val="75000"/>
                  </a:schemeClr>
                </a:solidFill>
              </a:rPr>
              <a:t>needed</a:t>
            </a:r>
          </a:p>
          <a:p>
            <a:pPr marL="342900" indent="-342900" algn="l">
              <a:spcBef>
                <a:spcPts val="0"/>
              </a:spcBef>
              <a:buFont typeface="Arial" panose="020B0604020202020204" pitchFamily="34" charset="0"/>
              <a:buChar char="•"/>
            </a:pPr>
            <a:r>
              <a:rPr lang="en-US" sz="2400" b="1" dirty="0">
                <a:solidFill>
                  <a:schemeClr val="accent6">
                    <a:lumMod val="75000"/>
                  </a:schemeClr>
                </a:solidFill>
              </a:rPr>
              <a:t>Afternoon meetings preferred (i.e., after 1pm)</a:t>
            </a:r>
          </a:p>
          <a:p>
            <a:pPr marL="342900" indent="-342900" algn="l">
              <a:spcBef>
                <a:spcPts val="0"/>
              </a:spcBef>
              <a:buFont typeface="Arial" panose="020B0604020202020204" pitchFamily="34" charset="0"/>
              <a:buChar char="•"/>
            </a:pPr>
            <a:r>
              <a:rPr lang="en-US" sz="2400" b="1" dirty="0">
                <a:solidFill>
                  <a:schemeClr val="accent6">
                    <a:lumMod val="75000"/>
                  </a:schemeClr>
                </a:solidFill>
              </a:rPr>
              <a:t>Team size of 4-6 students preferred (or whatever it takes to get the job done)</a:t>
            </a:r>
          </a:p>
          <a:p>
            <a:pPr marL="342900" lvl="0" indent="-342900" algn="l">
              <a:spcBef>
                <a:spcPts val="0"/>
              </a:spcBef>
              <a:buFont typeface="Arial" panose="020B0604020202020204" pitchFamily="34" charset="0"/>
              <a:buChar char="•"/>
            </a:pPr>
            <a:r>
              <a:rPr lang="en-US" sz="2400" b="1" dirty="0">
                <a:solidFill>
                  <a:schemeClr val="accent6">
                    <a:lumMod val="75000"/>
                  </a:schemeClr>
                </a:solidFill>
              </a:rPr>
              <a:t>Students can reserve a room for weekly meetings at SPN if desired</a:t>
            </a:r>
          </a:p>
          <a:p>
            <a:pPr marL="342900" lvl="0" indent="-342900" algn="l">
              <a:spcBef>
                <a:spcPts val="0"/>
              </a:spcBef>
              <a:buFont typeface="Arial" panose="020B0604020202020204" pitchFamily="34" charset="0"/>
              <a:buChar char="•"/>
            </a:pPr>
            <a:r>
              <a:rPr lang="en-US" sz="2400" b="1" dirty="0">
                <a:solidFill>
                  <a:schemeClr val="accent6">
                    <a:lumMod val="75000"/>
                  </a:schemeClr>
                </a:solidFill>
              </a:rPr>
              <a:t>NDAs/IP Agreements are required for students but not faculty</a:t>
            </a:r>
          </a:p>
        </p:txBody>
      </p:sp>
      <p:pic>
        <p:nvPicPr>
          <p:cNvPr id="15" name="Audio 14">
            <a:extLst>
              <a:ext uri="{FF2B5EF4-FFF2-40B4-BE49-F238E27FC236}">
                <a16:creationId xmlns:a16="http://schemas.microsoft.com/office/drawing/2014/main" id="{D20CB0BC-C46F-1C96-0E5B-8AE1D936738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extLst>
      <p:ext uri="{BB962C8B-B14F-4D97-AF65-F5344CB8AC3E}">
        <p14:creationId xmlns:p14="http://schemas.microsoft.com/office/powerpoint/2010/main" val="3926117516"/>
      </p:ext>
    </p:extLst>
  </p:cSld>
  <p:clrMapOvr>
    <a:masterClrMapping/>
  </p:clrMapOvr>
  <mc:AlternateContent xmlns:mc="http://schemas.openxmlformats.org/markup-compatibility/2006">
    <mc:Choice xmlns:p14="http://schemas.microsoft.com/office/powerpoint/2010/main" Requires="p14">
      <p:transition spd="slow" p14:dur="2000" advTm="32544"/>
    </mc:Choice>
    <mc:Fallback>
      <p:transition spd="slow" advTm="325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theme/theme1.xml><?xml version="1.0" encoding="utf-8"?>
<a:theme xmlns:a="http://schemas.openxmlformats.org/drawingml/2006/main" name="corporate proposal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corporate proposal presentation</Template>
  <TotalTime>15133</TotalTime>
  <Words>559</Words>
  <Application>Microsoft Macintosh PowerPoint</Application>
  <PresentationFormat>On-screen Show (4:3)</PresentationFormat>
  <Paragraphs>47</Paragraphs>
  <Slides>7</Slides>
  <Notes>7</Notes>
  <HiddenSlides>0</HiddenSlides>
  <MMClips>7</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Slack-Lato</vt:lpstr>
      <vt:lpstr>Times New Roman</vt:lpstr>
      <vt:lpstr>corporate proposal presentation</vt:lpstr>
      <vt:lpstr>“Data GenerAItion”</vt:lpstr>
      <vt:lpstr>“Data GenerAItion” USAA</vt:lpstr>
      <vt:lpstr>“Data GenerAItion” USAA</vt:lpstr>
      <vt:lpstr>“Data GenerAItion” USAA</vt:lpstr>
      <vt:lpstr>“Data GenerAItion” USAA</vt:lpstr>
      <vt:lpstr>“Data GenerAItion” USAA</vt:lpstr>
      <vt:lpstr>“Data GenerAItion” USAA</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–Company     Company Logo</dc:title>
  <dc:creator>Turcatti, Andrea</dc:creator>
  <cp:lastModifiedBy>Kirtzic, Steven</cp:lastModifiedBy>
  <cp:revision>68</cp:revision>
  <cp:lastPrinted>2013-08-05T14:02:13Z</cp:lastPrinted>
  <dcterms:created xsi:type="dcterms:W3CDTF">2013-07-30T12:59:57Z</dcterms:created>
  <dcterms:modified xsi:type="dcterms:W3CDTF">2026-01-19T22:09:50Z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238890f-b1c9-4d24-91e8-fc1fbd7a2e5e_Enabled">
    <vt:lpwstr>true</vt:lpwstr>
  </property>
  <property fmtid="{D5CDD505-2E9C-101B-9397-08002B2CF9AE}" pid="3" name="MSIP_Label_8238890f-b1c9-4d24-91e8-fc1fbd7a2e5e_SetDate">
    <vt:lpwstr>2025-01-10T01:04:21Z</vt:lpwstr>
  </property>
  <property fmtid="{D5CDD505-2E9C-101B-9397-08002B2CF9AE}" pid="4" name="MSIP_Label_8238890f-b1c9-4d24-91e8-fc1fbd7a2e5e_Method">
    <vt:lpwstr>Privileged</vt:lpwstr>
  </property>
  <property fmtid="{D5CDD505-2E9C-101B-9397-08002B2CF9AE}" pid="5" name="MSIP_Label_8238890f-b1c9-4d24-91e8-fc1fbd7a2e5e_Name">
    <vt:lpwstr>Public</vt:lpwstr>
  </property>
  <property fmtid="{D5CDD505-2E9C-101B-9397-08002B2CF9AE}" pid="6" name="MSIP_Label_8238890f-b1c9-4d24-91e8-fc1fbd7a2e5e_SiteId">
    <vt:lpwstr>ecba9361-f186-473c-a3a8-60af39258895</vt:lpwstr>
  </property>
  <property fmtid="{D5CDD505-2E9C-101B-9397-08002B2CF9AE}" pid="7" name="MSIP_Label_8238890f-b1c9-4d24-91e8-fc1fbd7a2e5e_ActionId">
    <vt:lpwstr>49378750-0622-4a1b-ad8c-34226db1a6f9</vt:lpwstr>
  </property>
  <property fmtid="{D5CDD505-2E9C-101B-9397-08002B2CF9AE}" pid="8" name="MSIP_Label_8238890f-b1c9-4d24-91e8-fc1fbd7a2e5e_ContentBits">
    <vt:lpwstr>2</vt:lpwstr>
  </property>
  <property fmtid="{D5CDD505-2E9C-101B-9397-08002B2CF9AE}" pid="9" name="ClassificationContentMarkingFooterLocations">
    <vt:lpwstr>corporate proposal presentation:9</vt:lpwstr>
  </property>
  <property fmtid="{D5CDD505-2E9C-101B-9397-08002B2CF9AE}" pid="10" name="ClassificationContentMarkingFooterText">
    <vt:lpwstr>USAA Classification: Public</vt:lpwstr>
  </property>
</Properties>
</file>